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olos Text" panose="020B0604020202020204" charset="0"/>
      <p:regular r:id="rId17"/>
    </p:embeddedFont>
    <p:embeddedFont>
      <p:font typeface="Golos Text Bold" panose="020B0604020202020204" charset="0"/>
      <p:regular r:id="rId18"/>
    </p:embeddedFont>
    <p:embeddedFont>
      <p:font typeface="Golos Text Medium" panose="020B0604020202020204" charset="0"/>
      <p:regular r:id="rId19"/>
    </p:embeddedFont>
    <p:embeddedFont>
      <p:font typeface="Golos Text SemiBold" panose="020B0604020202020204" charset="0"/>
      <p:regular r:id="rId20"/>
    </p:embeddedFont>
    <p:embeddedFont>
      <p:font typeface="Unbounded Bold" panose="020B0604020202020204" charset="0"/>
      <p:regular r:id="rId21"/>
    </p:embeddedFont>
    <p:embeddedFont>
      <p:font typeface="Unbounded Semi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12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75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1128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784840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DATABASE MANAGEMENT SYSTEM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2207617"/>
            <a:ext cx="7442014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Campus Placement and Recruitment Drive Management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9393" y="3710285"/>
            <a:ext cx="1860404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3883323"/>
            <a:ext cx="784840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Java Swing · JDBC · MySQL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9393" y="4274443"/>
            <a:ext cx="744201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Sahasra Devunuri (25WU0101116)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Siri Raaga (25WU0101097)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Riddhi (25WU0101110)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kern="100" spc="15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Mohak Gupta (25WU0101074)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10" name="Shape 8"/>
          <p:cNvSpPr/>
          <p:nvPr/>
        </p:nvSpPr>
        <p:spPr>
          <a:xfrm>
            <a:off x="8127797" y="508000"/>
            <a:ext cx="3657509" cy="5613400"/>
          </a:xfrm>
          <a:prstGeom prst="rect">
            <a:avLst/>
          </a:prstGeom>
          <a:noFill/>
          <a:ln w="6350">
            <a:solidFill>
              <a:srgbClr val="D4AF5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45" y="590550"/>
            <a:ext cx="3492413" cy="54483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7525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38099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52396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9138" y="431800"/>
            <a:ext cx="919457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Manual placement tracking doesn't scale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89138" y="1523008"/>
            <a:ext cx="9194471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9" name="Text 7"/>
          <p:cNvSpPr/>
          <p:nvPr/>
        </p:nvSpPr>
        <p:spPr>
          <a:xfrm>
            <a:off x="2489138" y="1800820"/>
            <a:ext cx="91945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Managing student records, companies, job profiles, eligibility, applications and results manually is hard to keep organized.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89138" y="2527895"/>
            <a:ext cx="4368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Centralize information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89138" y="2964061"/>
            <a:ext cx="45972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Student and company information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017" y="2527895"/>
            <a:ext cx="4368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Manage drives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017" y="2964061"/>
            <a:ext cx="4368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Placement drives and job profiles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89138" y="3937397"/>
            <a:ext cx="4368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Check eligibility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489138" y="4373562"/>
            <a:ext cx="45972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Automatically check student eligibility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017" y="3937397"/>
            <a:ext cx="4368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Track applications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017" y="4373562"/>
            <a:ext cx="4368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Applications and selection rounds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89138" y="5118298"/>
            <a:ext cx="4368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Manage offers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489138" y="5554464"/>
            <a:ext cx="45972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Offers and placement records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017" y="5118298"/>
            <a:ext cx="4368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Simple interface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017" y="5554464"/>
            <a:ext cx="4368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For Placement Officers and Students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0073" y="2527895"/>
            <a:ext cx="12700" cy="118090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4" name="Shape 22"/>
          <p:cNvSpPr/>
          <p:nvPr/>
        </p:nvSpPr>
        <p:spPr>
          <a:xfrm>
            <a:off x="2489138" y="3702447"/>
            <a:ext cx="459728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0073" y="3708797"/>
            <a:ext cx="12700" cy="118090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423" y="3702447"/>
            <a:ext cx="459728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7" name="Shape 25"/>
          <p:cNvSpPr/>
          <p:nvPr/>
        </p:nvSpPr>
        <p:spPr>
          <a:xfrm>
            <a:off x="2489138" y="4883348"/>
            <a:ext cx="459728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8" name="Shape 26"/>
          <p:cNvSpPr/>
          <p:nvPr/>
        </p:nvSpPr>
        <p:spPr>
          <a:xfrm>
            <a:off x="7080073" y="4889698"/>
            <a:ext cx="12700" cy="1180902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9" name="Shape 27"/>
          <p:cNvSpPr/>
          <p:nvPr/>
        </p:nvSpPr>
        <p:spPr>
          <a:xfrm>
            <a:off x="7086423" y="4883348"/>
            <a:ext cx="4597285" cy="127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Text 28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 / 10</a:t>
            </a:r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BC5B92-5DAF-E6CC-217A-C167350171AA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Scope: two roles, one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585" y="1236960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Student side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1706166"/>
            <a:ext cx="5257668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View eligible drives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Apply for jobs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Track application status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View selection results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View offers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24442" y="1236960"/>
            <a:ext cx="5257668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Officer side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324442" y="1706166"/>
            <a:ext cx="5257668" cy="172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Manage students and companies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Create job profiles and drives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Configure eligibility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Manage applications and rounds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Issue offers and generate reports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3679230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957042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8A6A1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5" y="4333577"/>
            <a:ext cx="3555911" cy="770830"/>
          </a:xfrm>
          <a:prstGeom prst="rect">
            <a:avLst/>
          </a:prstGeom>
          <a:solidFill>
            <a:srgbClr val="F8F2F3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562177"/>
            <a:ext cx="30987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Java Swing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317892" y="4562177"/>
            <a:ext cx="3555911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JDBC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26199" y="4333577"/>
            <a:ext cx="3555911" cy="770830"/>
          </a:xfrm>
          <a:prstGeom prst="rect">
            <a:avLst/>
          </a:prstGeom>
          <a:solidFill>
            <a:srgbClr val="F8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8254793" y="4562177"/>
            <a:ext cx="309872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MySQL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89498" y="1236960"/>
            <a:ext cx="12700" cy="2196207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 / 10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413BA-E7F7-EE77-407F-6A9259809D09}"/>
              </a:ext>
            </a:extLst>
          </p:cNvPr>
          <p:cNvSpPr/>
          <p:nvPr/>
        </p:nvSpPr>
        <p:spPr>
          <a:xfrm>
            <a:off x="10886536" y="6455166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7525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38099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7525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Data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9138" y="431800"/>
            <a:ext cx="919457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89138" y="1111548"/>
            <a:ext cx="9194471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12" name="Text 10"/>
          <p:cNvSpPr/>
          <p:nvPr/>
        </p:nvSpPr>
        <p:spPr>
          <a:xfrm>
            <a:off x="2489138" y="4935240"/>
            <a:ext cx="44448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8A6A1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ENTITIES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9138" y="5245100"/>
            <a:ext cx="444488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Student, Department, Academic Record, Skill, Company, Job Profile, Placement Drive, Eligibility Criteria, Application, Selection Round, Round Result, Offer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38819" y="4935240"/>
            <a:ext cx="44448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8A6A1D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8819" y="5245100"/>
            <a:ext cx="444488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Department → Students; Company → Job Profiles; Job Profile → Placement Drives; Student → Applications; Placement Drive → Applications; Application → Round Results; Application → Offer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7" name="Text 15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 / 10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9131F7-896E-46A0-B923-258D3FC46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393" y="1235396"/>
            <a:ext cx="5359267" cy="35728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4F54DC4-C6DE-0F48-4210-8EFD30552FB8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55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34616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29834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34616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Schema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81150" y="228600"/>
            <a:ext cx="985495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Relational schema, normalized to 3NF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981150" y="908348"/>
            <a:ext cx="985495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81150" y="1186160"/>
          <a:ext cx="9854954" cy="3624051"/>
        </p:xfrm>
        <a:graphic>
          <a:graphicData uri="http://schemas.openxmlformats.org/drawingml/2006/table">
            <a:tbl>
              <a:tblPr/>
              <a:tblGrid>
                <a:gridCol w="4927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2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STUDENT(student_id, name, email, phone, department_id, graduation_year)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ACADEMIC_RECORD(academic_record_id, student_id, cgpa, marks, backlogs)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2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COMPANY(company_id, company_name, industry, website, contact_email, contact_phone)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JOB_PROFILE(job_profile_id, company_id, title, description, location, salary_package)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2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PLACEMENT_DRIVE(drive_id, job_profile_id, drive_date, application_deadline, status)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APPLICATION(application_id, student_id, drive_id, application_date, status)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2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SELECTION_ROUND(round_id, drive_id, round_name, sequence_no, round_date)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ROUND_RESULT(result_id, application_id, round_id, result, remarks)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89"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B2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OFFER(offer_id, application_id, offer_date, package, status)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981150" y="4853980"/>
            <a:ext cx="318335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B2F3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1NF</a:t>
            </a: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atomic values, no repeating groups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316901" y="4853980"/>
            <a:ext cx="318335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B2F3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2NF</a:t>
            </a: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removed partial dependencies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52651" y="4853980"/>
            <a:ext cx="318335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B2F36"/>
                </a:solidFill>
                <a:latin typeface="Golos Text Bold" pitchFamily="34" charset="0"/>
                <a:ea typeface="Golos Text Bold" pitchFamily="34" charset="-122"/>
                <a:cs typeface="Golos Text Bold" pitchFamily="34" charset="-120"/>
              </a:rPr>
              <a:t>3NF</a:t>
            </a:r>
            <a:r>
              <a:rPr lang="en-US" sz="17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removed transitive dependencies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61920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4" name="Text 11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 / 10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108319-2AB5-3074-8B69-DA64669FA006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7525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38099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7525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MySQL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9138" y="431800"/>
            <a:ext cx="919457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built and managed in MySQL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89138" y="1523008"/>
            <a:ext cx="9194471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9" name="Shape 7"/>
          <p:cNvSpPr/>
          <p:nvPr/>
        </p:nvSpPr>
        <p:spPr>
          <a:xfrm>
            <a:off x="2489138" y="1850033"/>
            <a:ext cx="9194570" cy="1122561"/>
          </a:xfrm>
          <a:prstGeom prst="roundRect">
            <a:avLst>
              <a:gd name="adj" fmla="val 1018"/>
            </a:avLst>
          </a:prstGeom>
          <a:solidFill>
            <a:srgbClr val="F8F2F3"/>
          </a:solidFill>
          <a:ln/>
        </p:spPr>
      </p:sp>
      <p:sp>
        <p:nvSpPr>
          <p:cNvPr id="10" name="Text 8"/>
          <p:cNvSpPr/>
          <p:nvPr/>
        </p:nvSpPr>
        <p:spPr>
          <a:xfrm>
            <a:off x="2748191" y="2065933"/>
            <a:ext cx="8676463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campus_placement;</a:t>
            </a:r>
            <a:endParaRPr lang="en-US" sz="1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students (...);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89138" y="5343525"/>
            <a:ext cx="9194570" cy="72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Primary Key · Foreign Key · UNIQUE · NOT NULL · CHECK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B2F3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At least 5 records inserted into each table.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 / 10</a:t>
            </a: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58A182-B6A1-4051-0FB3-34B30DF9F7BE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CAE0854-BF2D-5FC9-2060-C045B5641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301"/>
          <a:stretch>
            <a:fillRect/>
          </a:stretch>
        </p:blipFill>
        <p:spPr>
          <a:xfrm>
            <a:off x="2451801" y="3342148"/>
            <a:ext cx="2991468" cy="18262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ABED26-ED22-89CA-7390-51C2158A3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58" y="3342148"/>
            <a:ext cx="3387472" cy="18262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084157-447F-54D1-3785-6EEDA3830C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661"/>
          <a:stretch>
            <a:fillRect/>
          </a:stretch>
        </p:blipFill>
        <p:spPr>
          <a:xfrm>
            <a:off x="5443269" y="3342148"/>
            <a:ext cx="2887989" cy="18262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55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34616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298343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34616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Queries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06550" y="304800"/>
            <a:ext cx="977875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SQL queries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06550" y="984548"/>
            <a:ext cx="9778755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9" name="Shape 7"/>
          <p:cNvSpPr/>
          <p:nvPr/>
        </p:nvSpPr>
        <p:spPr>
          <a:xfrm>
            <a:off x="2006550" y="1262360"/>
            <a:ext cx="4813180" cy="269468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3547" y="1389360"/>
            <a:ext cx="455918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JOIN · students + departments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133547" y="1912838"/>
            <a:ext cx="4559186" cy="1467941"/>
          </a:xfrm>
          <a:prstGeom prst="roundRect">
            <a:avLst>
              <a:gd name="adj" fmla="val 779"/>
            </a:avLst>
          </a:prstGeom>
          <a:solidFill>
            <a:srgbClr val="F8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2392600" y="2128738"/>
            <a:ext cx="4041079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... FROM students s JOIN departments d ON s.department_id = d.department_id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72126" y="1262360"/>
            <a:ext cx="4813180" cy="269468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9122" y="1389360"/>
            <a:ext cx="455918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Aggregate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99122" y="1912838"/>
            <a:ext cx="4559186" cy="1467941"/>
          </a:xfrm>
          <a:prstGeom prst="roundRect">
            <a:avLst>
              <a:gd name="adj" fmla="val 779"/>
            </a:avLst>
          </a:prstGeom>
          <a:solidFill>
            <a:srgbClr val="F8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7358176" y="2128738"/>
            <a:ext cx="4041079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drive_id, COUNT(*) AS applications FROM applications GROUP BY drive_id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006550" y="4109442"/>
            <a:ext cx="4813180" cy="234930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3547" y="4236442"/>
            <a:ext cx="455918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Subquery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133547" y="4759920"/>
            <a:ext cx="4559186" cy="1122561"/>
          </a:xfrm>
          <a:prstGeom prst="roundRect">
            <a:avLst>
              <a:gd name="adj" fmla="val 1018"/>
            </a:avLst>
          </a:prstGeom>
          <a:solidFill>
            <a:srgbClr val="F8F2F3"/>
          </a:solidFill>
          <a:ln/>
        </p:spPr>
      </p:sp>
      <p:sp>
        <p:nvSpPr>
          <p:cNvPr id="22" name="Text 20"/>
          <p:cNvSpPr/>
          <p:nvPr/>
        </p:nvSpPr>
        <p:spPr>
          <a:xfrm>
            <a:off x="2392600" y="4975820"/>
            <a:ext cx="4041079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cgpa &gt; (SELECT AVG(cgpa) FROM students)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972126" y="4109442"/>
            <a:ext cx="4813180" cy="2349302"/>
          </a:xfrm>
          <a:prstGeom prst="rect">
            <a:avLst/>
          </a:prstGeom>
          <a:noFill/>
          <a:ln w="12700">
            <a:solidFill>
              <a:srgbClr val="D4A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99122" y="4236442"/>
            <a:ext cx="455918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View report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099122" y="4759920"/>
            <a:ext cx="4559186" cy="1122561"/>
          </a:xfrm>
          <a:prstGeom prst="roundRect">
            <a:avLst>
              <a:gd name="adj" fmla="val 1018"/>
            </a:avLst>
          </a:prstGeom>
          <a:solidFill>
            <a:srgbClr val="F8F2F3"/>
          </a:solidFill>
          <a:ln/>
        </p:spPr>
      </p:sp>
      <p:sp>
        <p:nvSpPr>
          <p:cNvPr id="27" name="Text 25"/>
          <p:cNvSpPr/>
          <p:nvPr/>
        </p:nvSpPr>
        <p:spPr>
          <a:xfrm>
            <a:off x="7358176" y="4975820"/>
            <a:ext cx="4041079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7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vw_department_placement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61920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30" name="Text 28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 / 10</a:t>
            </a: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445D55-DE76-A7C6-C439-C4B0E3A8705D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7525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38099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7525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9138" y="431800"/>
            <a:ext cx="919457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Working system: user interface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89138" y="1111548"/>
            <a:ext cx="9194471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26" name="Shape 24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08 / 10</a:t>
            </a:r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56DAF6-395E-3E82-1298-1D2135D0CFB7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F567BB-F588-DE59-04DE-0E21496D2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342" y="1336030"/>
            <a:ext cx="2112315" cy="240366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783EA3B-113F-A3CC-6CE7-B5FE2DAEB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700" y="1330658"/>
            <a:ext cx="3129589" cy="193298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67AEA63-5A39-A728-E3FB-7EF0E7C0F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32" y="1330657"/>
            <a:ext cx="3129588" cy="193298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D5E7AC1-7BBE-C640-2AE0-BFA59136F7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712" y="3424362"/>
            <a:ext cx="3404827" cy="21029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22196A-41F5-8368-F4C1-6F00C4938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752" y="3428874"/>
            <a:ext cx="3663864" cy="22629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D93E833-843D-E56F-5C77-8E228B5A3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1341" y="3932529"/>
            <a:ext cx="2096463" cy="2166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6858000"/>
          </a:xfrm>
          <a:prstGeom prst="rect">
            <a:avLst/>
          </a:prstGeom>
          <a:solidFill>
            <a:srgbClr val="7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44600"/>
            <a:ext cx="175255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9393" y="1568748"/>
            <a:ext cx="38099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1741785"/>
            <a:ext cx="17525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Workflow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9138" y="431800"/>
            <a:ext cx="919457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7A112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From login to offer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89138" y="1111548"/>
            <a:ext cx="9194471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9" name="Shape 7"/>
          <p:cNvSpPr/>
          <p:nvPr/>
        </p:nvSpPr>
        <p:spPr>
          <a:xfrm>
            <a:off x="2489138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6485" y="150366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89138" y="1950641"/>
            <a:ext cx="214624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Login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89138" y="2386806"/>
            <a:ext cx="21462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Role-based login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40176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7523" y="150366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40176" y="1950641"/>
            <a:ext cx="199385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Student / Officer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40176" y="2386806"/>
            <a:ext cx="19938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Student and company management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38819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166" y="150366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38819" y="1950641"/>
            <a:ext cx="1993850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Manage / View Placement Drives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38819" y="2667397"/>
            <a:ext cx="19938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Placement drive management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37461" y="1389360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4808" y="1503660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37461" y="1950641"/>
            <a:ext cx="214624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Eligibility Check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37461" y="2386806"/>
            <a:ext cx="21462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Eligibility checking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489138" y="3682305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6485" y="3796605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89138" y="4243586"/>
            <a:ext cx="214624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489138" y="4679752"/>
            <a:ext cx="21462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Application tracking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40176" y="3682305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7523" y="3796605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40176" y="4243586"/>
            <a:ext cx="199385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Selection Rounds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940176" y="4679752"/>
            <a:ext cx="19938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Selection round management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238819" y="3682305"/>
            <a:ext cx="431789" cy="431800"/>
          </a:xfrm>
          <a:prstGeom prst="rect">
            <a:avLst/>
          </a:prstGeom>
          <a:noFill/>
          <a:ln w="19050">
            <a:solidFill>
              <a:srgbClr val="8A6A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166" y="3796605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A1128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38819" y="4243586"/>
            <a:ext cx="199385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Result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9537461" y="3682305"/>
            <a:ext cx="431789" cy="431800"/>
          </a:xfrm>
          <a:prstGeom prst="rect">
            <a:avLst/>
          </a:prstGeom>
          <a:solidFill>
            <a:srgbClr val="7A1128"/>
          </a:solidFill>
          <a:ln w="19050">
            <a:solidFill>
              <a:srgbClr val="7A11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94808" y="3796605"/>
            <a:ext cx="92658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37461" y="4243586"/>
            <a:ext cx="214624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7A1128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Offer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537461" y="4679752"/>
            <a:ext cx="21462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Offer management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489138" y="5864225"/>
            <a:ext cx="970255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12" dirty="0">
                <a:solidFill>
                  <a:srgbClr val="5C637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Placement reports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025599" y="0"/>
            <a:ext cx="12700" cy="68580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42" name="Text 40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09 / 10</a:t>
            </a:r>
            <a:endParaRPr lang="en-US" sz="1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5B17C4-C3F6-2037-2957-3C03694B8A6D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D4A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9393" y="1244600"/>
            <a:ext cx="1183610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DBMS PROJECT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9393" y="1513185"/>
            <a:ext cx="11226519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9393" y="2192933"/>
            <a:ext cx="2806630" cy="31651"/>
          </a:xfrm>
          <a:prstGeom prst="roundRect">
            <a:avLst>
              <a:gd name="adj" fmla="val 49998"/>
            </a:avLst>
          </a:prstGeom>
          <a:solidFill>
            <a:srgbClr val="D4AF5A"/>
          </a:solidFill>
          <a:ln/>
        </p:spPr>
      </p:sp>
      <p:sp>
        <p:nvSpPr>
          <p:cNvPr id="6" name="Text 4"/>
          <p:cNvSpPr/>
          <p:nvPr/>
        </p:nvSpPr>
        <p:spPr>
          <a:xfrm>
            <a:off x="279393" y="2365970"/>
            <a:ext cx="1122651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The system gives a centralized way to manage campus recruitment, integrating Java Swing, JDBC and MySQL across students, companies, drives, applications, rounds and offers.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9393" y="3961110"/>
            <a:ext cx="1183610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D4AF5A"/>
                </a:solidFill>
                <a:latin typeface="Golos Text SemiBold" pitchFamily="34" charset="0"/>
                <a:ea typeface="Golos Text SemiBold" pitchFamily="34" charset="-122"/>
                <a:cs typeface="Golos Text SemiBold" pitchFamily="34" charset="-120"/>
              </a:rPr>
              <a:t>FUTURE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4232870"/>
            <a:ext cx="35135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Web-based version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Cloud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50127" y="4232870"/>
            <a:ext cx="32849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Email/SMS notifications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Resume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92267" y="4232870"/>
            <a:ext cx="35136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Advanced placement analytics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9393" y="5756970"/>
            <a:ext cx="1122651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Golos Text Medium" pitchFamily="34" charset="0"/>
                <a:ea typeface="Golos Text Medium" pitchFamily="34" charset="-122"/>
                <a:cs typeface="Golos Text Medium" pitchFamily="34" charset="-120"/>
              </a:rPr>
              <a:t>Thank you. Questions?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015183" y="4232870"/>
            <a:ext cx="12700" cy="5334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57323" y="4232870"/>
            <a:ext cx="12700" cy="533400"/>
          </a:xfrm>
          <a:prstGeom prst="rect">
            <a:avLst/>
          </a:prstGeom>
          <a:solidFill>
            <a:srgbClr val="D4AF5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6446540"/>
            <a:ext cx="126461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100" spc="48" dirty="0">
                <a:solidFill>
                  <a:srgbClr val="D4AF5A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10 / 10</a:t>
            </a:r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EA8F3-5846-1B82-6CEB-06F560A63290}"/>
              </a:ext>
            </a:extLst>
          </p:cNvPr>
          <p:cNvSpPr/>
          <p:nvPr/>
        </p:nvSpPr>
        <p:spPr>
          <a:xfrm>
            <a:off x="10886536" y="6446540"/>
            <a:ext cx="1305464" cy="431998"/>
          </a:xfrm>
          <a:prstGeom prst="rect">
            <a:avLst/>
          </a:prstGeom>
          <a:solidFill>
            <a:srgbClr val="7A1128"/>
          </a:solidFill>
          <a:ln>
            <a:solidFill>
              <a:srgbClr val="7A11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703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Golos Text Medium</vt:lpstr>
      <vt:lpstr>Unbounded SemiBold</vt:lpstr>
      <vt:lpstr>Golos Text</vt:lpstr>
      <vt:lpstr>Golos Text SemiBold</vt:lpstr>
      <vt:lpstr>Golos Text Bold</vt:lpstr>
      <vt:lpstr>Consolas</vt:lpstr>
      <vt:lpstr>Unbounded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Riddhi Agarwal</dc:creator>
  <cp:lastModifiedBy>Riddhi Agarwal</cp:lastModifiedBy>
  <cp:revision>4</cp:revision>
  <dcterms:created xsi:type="dcterms:W3CDTF">2026-10-05T15:22:52Z</dcterms:created>
  <dcterms:modified xsi:type="dcterms:W3CDTF">2026-10-06T07:16:28Z</dcterms:modified>
</cp:coreProperties>
</file>